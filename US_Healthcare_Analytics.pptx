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556"/>
              </a:solidFill>
              <a:effectLst/>
            </c:spPr>
          </c:dPt>
          <c:dPt>
            <c:idx val="1"/>
            <c:bubble3D val="0"/>
            <c:spPr>
              <a:solidFill>
                <a:srgbClr val="E2725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5075</c:v>
                </c:pt>
                <c:pt idx="1">
                  <c:v>4925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7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4C8C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B355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Young
(&lt;40)</c:v>
                  </c:pt>
                  <c:pt idx="1">
                    <c:v>Middle
(40–59)</c:v>
                  </c:pt>
                  <c:pt idx="2">
                    <c:v>Senior
(60+)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2485</c:v>
                </c:pt>
                <c:pt idx="1">
                  <c:v>3702</c:v>
                </c:pt>
                <c:pt idx="2">
                  <c:v>3813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B355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C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B35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B355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Hypertension</c:v>
                  </c:pt>
                  <c:pt idx="1">
                    <c:v>Cancer</c:v>
                  </c:pt>
                  <c:pt idx="2">
                    <c:v>Obesity</c:v>
                  </c:pt>
                  <c:pt idx="3">
                    <c:v>Arthritis</c:v>
                  </c:pt>
                  <c:pt idx="4">
                    <c:v>Asthma</c:v>
                  </c:pt>
                  <c:pt idx="5">
                    <c:v>Diabetes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2155</c:v>
                </c:pt>
                <c:pt idx="1">
                  <c:v>1647</c:v>
                </c:pt>
                <c:pt idx="2">
                  <c:v>1627</c:v>
                </c:pt>
                <c:pt idx="3">
                  <c:v>1587</c:v>
                </c:pt>
                <c:pt idx="4">
                  <c:v>1550</c:v>
                </c:pt>
                <c:pt idx="5">
                  <c:v>1434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B355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B27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Billing ($)</c:v>
                </c:pt>
              </c:strCache>
            </c:strRef>
          </c:tx>
          <c:spPr>
            <a:solidFill>
              <a:srgbClr val="E2725B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150" u="none">
                    <a:solidFill>
                      <a:srgbClr val="C055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Cancer</c:v>
                  </c:pt>
                  <c:pt idx="1">
                    <c:v>Diabetes</c:v>
                  </c:pt>
                  <c:pt idx="2">
                    <c:v>Asthma</c:v>
                  </c:pt>
                  <c:pt idx="3">
                    <c:v>Arthritis</c:v>
                  </c:pt>
                  <c:pt idx="4">
                    <c:v>Hypertension</c:v>
                  </c:pt>
                  <c:pt idx="5">
                    <c:v>Obesity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39677</c:v>
                </c:pt>
                <c:pt idx="1">
                  <c:v>30070</c:v>
                </c:pt>
                <c:pt idx="2">
                  <c:v>22645</c:v>
                </c:pt>
                <c:pt idx="3">
                  <c:v>20055</c:v>
                </c:pt>
                <c:pt idx="4">
                  <c:v>17643</c:v>
                </c:pt>
                <c:pt idx="5">
                  <c:v>12536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150" u="none">
                  <a:solidFill>
                    <a:srgbClr val="C055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B27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B3556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0B3556"/>
                </a:solidFill>
                <a:latin typeface="Calibri"/>
              </a:rPr>
              <a:t>Patient Volume by Provider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B35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0B355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Medicare</c:v>
                  </c:pt>
                  <c:pt idx="1">
                    <c:v>Cigna</c:v>
                  </c:pt>
                  <c:pt idx="2">
                    <c:v>Aetna</c:v>
                  </c:pt>
                  <c:pt idx="3">
                    <c:v>Blue Cross</c:v>
                  </c:pt>
                  <c:pt idx="4">
                    <c:v>United-
healthcare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2428</c:v>
                </c:pt>
                <c:pt idx="1">
                  <c:v>1939</c:v>
                </c:pt>
                <c:pt idx="2">
                  <c:v>1921</c:v>
                </c:pt>
                <c:pt idx="3">
                  <c:v>1875</c:v>
                </c:pt>
                <c:pt idx="4">
                  <c:v>1837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0B355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B3556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0B3556"/>
                </a:solidFill>
                <a:latin typeface="Calibri"/>
              </a:rPr>
              <a:t>Avg. Billing per Patient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Billing ($)</c:v>
                </c:pt>
              </c:strCache>
            </c:strRef>
          </c:tx>
          <c:spPr>
            <a:solidFill>
              <a:srgbClr val="E2725B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C055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Cigna</c:v>
                  </c:pt>
                  <c:pt idx="1">
                    <c:v>Aetna</c:v>
                  </c:pt>
                  <c:pt idx="2">
                    <c:v>Medicare</c:v>
                  </c:pt>
                  <c:pt idx="3">
                    <c:v>United-
healthcare</c:v>
                  </c:pt>
                  <c:pt idx="4">
                    <c:v>Blue Cross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24226</c:v>
                </c:pt>
                <c:pt idx="1">
                  <c:v>24132</c:v>
                </c:pt>
                <c:pt idx="2">
                  <c:v>22943</c:v>
                </c:pt>
                <c:pt idx="3">
                  <c:v>22905</c:v>
                </c:pt>
                <c:pt idx="4">
                  <c:v>22772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050" u="none">
                  <a:solidFill>
                    <a:srgbClr val="C055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0B3556">
                <a:alpha val="100000"/>
              </a:srgbClr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B355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355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C8C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A93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Emergency</c:v>
                  </c:pt>
                  <c:pt idx="1">
                    <c:v>Urgent</c:v>
                  </c:pt>
                  <c:pt idx="2">
                    <c:v>Elective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35.9</c:v>
                </c:pt>
                <c:pt idx="1">
                  <c:v>33.4</c:v>
                </c:pt>
                <c:pt idx="2">
                  <c:v>30.8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B355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7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2725B"/>
              </a:solidFill>
              <a:effectLst/>
            </c:spPr>
          </c:dPt>
          <c:dPt>
            <c:idx val="1"/>
            <c:bubble3D val="0"/>
            <c:spPr>
              <a:solidFill>
                <a:srgbClr val="F0A93B"/>
              </a:solidFill>
              <a:effectLst/>
            </c:spPr>
          </c:dPt>
          <c:dPt>
            <c:idx val="2"/>
            <c:bubble3D val="0"/>
            <c:spPr>
              <a:solidFill>
                <a:srgbClr val="4C8C8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Abnormal</c:v>
                </c:pt>
                <c:pt idx="1">
                  <c:v>Inconclusive</c:v>
                </c:pt>
                <c:pt idx="2">
                  <c:v>Normal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3456</c:v>
                </c:pt>
                <c:pt idx="1">
                  <c:v>3277</c:v>
                </c:pt>
                <c:pt idx="2">
                  <c:v>3267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50">
              <a:solidFill>
                <a:srgbClr val="1B27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Admissions</c:v>
                </c:pt>
              </c:strCache>
            </c:strRef>
          </c:tx>
          <c:spPr>
            <a:solidFill>
              <a:srgbClr val="0B35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50" u="none">
                    <a:solidFill>
                      <a:srgbClr val="0B355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2023*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1973</c:v>
                </c:pt>
                <c:pt idx="1">
                  <c:v>2044</c:v>
                </c:pt>
                <c:pt idx="2">
                  <c:v>2063</c:v>
                </c:pt>
                <c:pt idx="3">
                  <c:v>2001</c:v>
                </c:pt>
                <c:pt idx="4">
                  <c:v>1616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50" u="none">
                  <a:solidFill>
                    <a:srgbClr val="0B355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B27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Billing ($)</c:v>
                </c:pt>
              </c:strCache>
            </c:strRef>
          </c:tx>
          <c:spPr>
            <a:solidFill>
              <a:srgbClr val="E2725B"/>
            </a:solidFill>
            <a:ln w="38100" cap="flat">
              <a:solidFill>
                <a:srgbClr val="E2725B"/>
              </a:solidFill>
              <a:prstDash val="solid"/>
              <a:round/>
            </a:ln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150" u="none">
                    <a:solidFill>
                      <a:srgbClr val="C05540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2725B"/>
              </a:solidFill>
              <a:ln w="9525" cap="flat">
                <a:solidFill>
                  <a:srgbClr val="E272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2023*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23274</c:v>
                </c:pt>
                <c:pt idx="1">
                  <c:v>23883</c:v>
                </c:pt>
                <c:pt idx="2">
                  <c:v>23084</c:v>
                </c:pt>
                <c:pt idx="3">
                  <c:v>23645</c:v>
                </c:pt>
                <c:pt idx="4">
                  <c:v>22919</c:v>
                </c:pt>
              </c:numCache>
            </c:numRef>
          </c:val>
          <c:smooth val="0"/>
        </c:ser>
        <c:dLbls>
          <c:numFmt formatCode="$#,##0" sourceLinked="0"/>
          <c:txPr>
            <a:bodyPr/>
            <a:lstStyle/>
            <a:p>
              <a:pPr>
                <a:defRPr b="1" i="0" strike="noStrike" sz="1150" u="none">
                  <a:solidFill>
                    <a:srgbClr val="C0554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B27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7000"/>
          <c:min val="20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0B3556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097280"/>
            <a:ext cx="3840480" cy="3840480"/>
          </a:xfrm>
          <a:prstGeom prst="ellipse">
            <a:avLst/>
          </a:prstGeom>
          <a:solidFill>
            <a:srgbClr val="0F3F6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071B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27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 •  DATA PROJECT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 Healthcare Insights: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97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A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Data-Driven Analysis of Patient Cost &amp; Care Patterns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5204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modeling, and interpreting 10,000 hospital admission records (2018–2023) to surface the cost and utilization drivers behind a $233.8M billing base.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1081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739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61081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$233.8M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64739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Analyzed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61081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64739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Conditions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61081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64739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Providers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41248"/>
          </a:xfrm>
          <a:prstGeom prst="rect">
            <a:avLst/>
          </a:prstGeom>
          <a:solidFill>
            <a:srgbClr val="EAF3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7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6916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74920" y="169164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structure, and the data-quality issues fixed before analysis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64240" cy="841248"/>
          </a:xfrm>
          <a:prstGeom prst="rect">
            <a:avLst/>
          </a:prstGeom>
          <a:solidFill>
            <a:srgbClr val="EAF3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63347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7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63347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Demographics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2633472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being treated — age, gender, and condition mix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11064240" cy="841248"/>
          </a:xfrm>
          <a:prstGeom prst="rect">
            <a:avLst/>
          </a:prstGeom>
          <a:solidFill>
            <a:srgbClr val="EAF3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575304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7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57530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Drivers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3575304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conditions, insurers, and admission types drive billing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25696"/>
            <a:ext cx="11064240" cy="841248"/>
          </a:xfrm>
          <a:prstGeom prst="rect">
            <a:avLst/>
          </a:prstGeom>
          <a:solidFill>
            <a:srgbClr val="EAF3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517136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7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51713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Time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74920" y="4517136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years of volume and cost patterns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67528"/>
            <a:ext cx="11064240" cy="841248"/>
          </a:xfrm>
          <a:prstGeom prst="rect">
            <a:avLst/>
          </a:prstGeom>
          <a:solidFill>
            <a:srgbClr val="EAF3F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458968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7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545896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074920" y="545896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suggests hospital leadership should do next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HEALTHCARE ANALYTICS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Balanced Dataset — Five Years of Signal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2651760" cy="82296"/>
          </a:xfrm>
          <a:prstGeom prst="rect">
            <a:avLst/>
          </a:prstGeom>
          <a:solidFill>
            <a:srgbClr val="0B355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1051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957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834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2018 – Oct 2023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4992" y="155448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64992" y="1554480"/>
            <a:ext cx="2651760" cy="82296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9584" y="181051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27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$23,381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3529584" y="23957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Billing / Patient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29584" y="2834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$233.8M total billed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155448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1344" y="1554480"/>
            <a:ext cx="2651760" cy="82296"/>
          </a:xfrm>
          <a:prstGeom prst="rect">
            <a:avLst/>
          </a:prstGeom>
          <a:solidFill>
            <a:srgbClr val="4C8C8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45936" y="181051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C8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13.8 days</a:t>
            </a:r>
            <a:endParaRPr lang="en-US" sz="2700" dirty="0"/>
          </a:p>
        </p:txBody>
      </p:sp>
      <p:sp>
        <p:nvSpPr>
          <p:cNvPr id="17" name="Text 15"/>
          <p:cNvSpPr txBox="1"/>
          <p:nvPr/>
        </p:nvSpPr>
        <p:spPr>
          <a:xfrm>
            <a:off x="6345936" y="23957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Length of Stay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45936" y="2834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 range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97696" y="155448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97696" y="1554480"/>
            <a:ext cx="2651760" cy="82296"/>
          </a:xfrm>
          <a:prstGeom prst="rect">
            <a:avLst/>
          </a:prstGeom>
          <a:solidFill>
            <a:srgbClr val="F0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62288" y="181051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51.5 yrs</a:t>
            </a:r>
            <a:endParaRPr lang="en-US" sz="2700" dirty="0"/>
          </a:p>
        </p:txBody>
      </p:sp>
      <p:sp>
        <p:nvSpPr>
          <p:cNvPr id="22" name="Text 20"/>
          <p:cNvSpPr txBox="1"/>
          <p:nvPr/>
        </p:nvSpPr>
        <p:spPr>
          <a:xfrm>
            <a:off x="9162288" y="23957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Patient Age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162288" y="2834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are Senior (60+)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Insight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224528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driven almost entirely by diagnosis, not by how long a patient stays. Cancer patients cost 3.2x more on average than Obesity patients, while length of stay shows virtually no correlation with billing (r = −0.003) across the full population.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549640" y="3886200"/>
            <a:ext cx="3063240" cy="2423160"/>
          </a:xfrm>
          <a:prstGeom prst="roundRect">
            <a:avLst>
              <a:gd name="adj" fmla="val 3019"/>
            </a:avLst>
          </a:prstGeom>
          <a:solidFill>
            <a:srgbClr val="0B355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549640" y="404164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800" dirty="0"/>
          </a:p>
        </p:txBody>
      </p:sp>
      <p:sp>
        <p:nvSpPr>
          <p:cNvPr id="28" name="Text 26"/>
          <p:cNvSpPr txBox="1"/>
          <p:nvPr/>
        </p:nvSpPr>
        <p:spPr>
          <a:xfrm>
            <a:off x="8732520" y="47091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conditions tracked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915400" y="5166360"/>
            <a:ext cx="2331720" cy="0"/>
          </a:xfrm>
          <a:prstGeom prst="line">
            <a:avLst/>
          </a:prstGeom>
          <a:noFill/>
          <a:ln w="12700">
            <a:solidFill>
              <a:srgbClr val="2B557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732520" y="5321808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Hypertension, Cancer, Obesity,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Arthritis, Asthma, Diabetes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HEALTHCARE ANALYTICS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Records to a Reliable Model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export (10,000 rows × 15 fields) contained realistic messy-data problems. Each was identified and corrected in Excel before any analysis began: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457200" cy="45720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0574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ages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0574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 like “8I” recognized as OCR-style errors for “81” and corrected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9864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categories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898648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types (“A+ve” vs “A+”), gender (“M” vs “Male”) and admission type (“Emer” vs “Emergency”) standardized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67328"/>
            <a:ext cx="457200" cy="45720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739896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numerics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3739896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values with letter substitutions (e.g. “6452O”) parsed back to numbers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608576"/>
            <a:ext cx="457200" cy="45720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581144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4581144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zero nulls across all 22 fields post-cleaning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AF3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61441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fields added for analysis: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5614416"/>
            <a:ext cx="7818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Bucket (Young / Middle / Senior)   ·   Duration of Stay   ·   Admission Year / Month   ·   Age–Gender Segment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HEALTHCARE ANALYTICS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DEMOGRAPHICS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Broad, Age-Skewed Patient Base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874520"/>
          <a:ext cx="48463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349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50.8% Female  ·  49.2% Male — near-even split across 10,000 admissions.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Bucket Distribution</a:t>
            </a:r>
            <a:endParaRPr lang="en-US" sz="14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5623560" y="1874520"/>
          <a:ext cx="59893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760720" y="53492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patients (38%) form the single largest group — slightly ahead of Middle-age (37%).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HEALTHCARE ANALYTICS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PROFILE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Hypertension Is the Most Common Diagnosis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554480"/>
            <a:ext cx="3794760" cy="4480560"/>
          </a:xfrm>
          <a:prstGeom prst="roundRect">
            <a:avLst>
              <a:gd name="adj" fmla="val 1928"/>
            </a:avLst>
          </a:prstGeom>
          <a:solidFill>
            <a:srgbClr val="EAF3F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9244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Mix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092440" y="2350008"/>
            <a:ext cx="82296" cy="82296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321040" y="221284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are fairly evenly distributed — no single diagnosis dominates the caseload (14–22% share each).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92440" y="3246120"/>
            <a:ext cx="82296" cy="82296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321040" y="3108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 (21.6%) and Cancer (16.5%) lead by volume.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92440" y="4142232"/>
            <a:ext cx="82296" cy="82296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321040" y="400507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is the least frequent diagnosis (14.3%) but, as the next slide shows, far from the cheapest.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HEALTHCARE ANALYTICS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Cancer Drives the Heaviest Billing — by Far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36192"/>
          <a:ext cx="70408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536192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0B355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863840" y="1691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3.2x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48716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patients cost 3.2x more, on average,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Obesity patients — the cheapest cohort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416052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is the 2nd-most common diagnosis but the single largest cost center. Even a small shift in early cancer detection or treatment pathway efficiency would have outsized impact on total billing versus efforts focused on higher-volume, lower-cost conditions like Obesity or Hypertension.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HEALTHCARE ANALYTICS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MIX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Medicare Carries the Largest Patient Volume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5760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26480" y="1600200"/>
          <a:ext cx="5623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5897880"/>
            <a:ext cx="11292840" cy="566928"/>
          </a:xfrm>
          <a:prstGeom prst="roundRect">
            <a:avLst>
              <a:gd name="adj" fmla="val 9677"/>
            </a:avLst>
          </a:prstGeom>
          <a:solidFill>
            <a:srgbClr val="EAF3F8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85800" y="58978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per patient is remarkably flat across insurers (&lt; 6% spread) — the payer barely moves the price; the diagnosis does.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HEALTHCARE ANALYTICS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PATHWAY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Cases Cost the Most to Treat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Type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82880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07492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admissions average $24,279 — the highest of all admission types — vs. $22,731 for Urgent care.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 Outcomes</a:t>
            </a:r>
            <a:endParaRPr lang="en-US" sz="14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172200" y="182880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309360" y="507492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outcomes are almost evenly split — results show no meaningful skew toward any single category across the population.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HEALTHCARE ANALYTICS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Admission Volume Grew Steadily; Unit Cost Stayed Flat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by Year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87452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172200" y="15361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Billing per Admission ($)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035040" y="1874520"/>
          <a:ext cx="55778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2018 and 2023 are partial calendar years in this dataset (Oct–Dec 2018; Jan–Oct 2023) and are shown/annotated accordingly. Average billing per admission holds within a tight $22.9K–$23.9K band all five years — growth came from volume, not price.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HEALTHCARE ANALYTICS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Predicts a High Bill?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 hypothesis is that longer hospital stays cost more. Testing that against all 10,000 records shows the opposite: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6118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5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3317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7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− 0.003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2724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Stay ↔ Billing Amount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0332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zero correlation — a 2-day stay and a 28-day stay cost the same, on average.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148840"/>
            <a:ext cx="36118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5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17720" y="23317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8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+ 0.013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12724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Age ↔ Billing Amount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70332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negligible — older patients are not billed materially more than younger ones.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2148840"/>
            <a:ext cx="36118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AAAB5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58200" y="23317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312724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↔ Billing Amount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370332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variable that consistently explains cost — a 3.2x spread from Obesity to Cancer.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this billing model reads as diagnosis- / procedure-based rather than a per-diem (per-day) charge model — useful context for anyone building a cost-prediction or reimbursement model on this data.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HEALTHCARE ANALYTICS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the Analysis Into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02920" cy="502920"/>
          </a:xfrm>
          <a:prstGeom prst="ellipse">
            <a:avLst/>
          </a:prstGeom>
          <a:solidFill>
            <a:srgbClr val="0B355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1790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high-cost condition management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dedicated case-management for Cancer and Diabetes patients — together they represent ~31% of patients but a disproportionate share of billing.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06624"/>
            <a:ext cx="502920" cy="502920"/>
          </a:xfrm>
          <a:prstGeom prst="ellipse">
            <a:avLst/>
          </a:prstGeom>
          <a:solidFill>
            <a:srgbClr val="0B355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88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517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on volume, not just rate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03580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represents 24% of patient volume at average pricing — the clearest lever for a value-based contracting conversation.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0B355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8561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capacity around Emergency demand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16966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is both the largest (36%) and costliest admission type — staffing and bed-allocation models should weight it accordingly.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74336"/>
            <a:ext cx="502920" cy="502920"/>
          </a:xfrm>
          <a:prstGeom prst="ellipse">
            <a:avLst/>
          </a:prstGeom>
          <a:solidFill>
            <a:srgbClr val="0B355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956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91947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capture at the source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3035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entry for age, blood type, and billing fields at intake to remove the cleanup burden identified in this project.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HEALTHCARE ANALYTICS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0B355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331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7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workbook — raw data, cleaning steps, and PivotTable-based analysis — available on request.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HEALTHCARE ANALYTICS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311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2026-09-27T19:47:47Z</dcterms:created>
  <dcterms:modified xsi:type="dcterms:W3CDTF">2026-09-27T19:47:47Z</dcterms:modified>
</cp:coreProperties>
</file>